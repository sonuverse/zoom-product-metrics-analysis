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457200"/>
            <a:ext cx="2011680" cy="2011680"/>
          </a:xfrm>
          <a:prstGeom prst="ellipse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48840"/>
            <a:ext cx="1371600" cy="1371600"/>
          </a:xfrm>
          <a:prstGeom prst="ellipse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3108960"/>
            <a:ext cx="914400" cy="914400"/>
          </a:xfrm>
          <a:prstGeom prst="ellipse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297680"/>
            <a:ext cx="640080" cy="640080"/>
          </a:xfrm>
          <a:prstGeom prst="ellipse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A097"/>
                </a:solidFill>
                <a:latin typeface="Aptos"/>
              </a:rPr>
              <a:t>PRODUCT ANALYTICS • PORTFOLIO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315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Zoom Product Metrics
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6675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3DDEC"/>
                </a:solidFill>
                <a:latin typeface="Aptos"/>
              </a:rPr>
              <a:t>AARRR framework, metric definitions, formulas,
interpretation and recommended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Prepared by Sakshi Ghodeswar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36208"/>
            <a:ext cx="67665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Conceptual analysis • No proprietary or observed Zoom performance data 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01 • 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Business question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300" b="1">
                <a:solidFill>
                  <a:srgbClr val="121E34"/>
                </a:solidFill>
                <a:latin typeface="Aptos"/>
              </a:rPr>
              <a:t>How can Zoom understand its user journey and product health?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49834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47287"/>
                </a:solidFill>
                <a:latin typeface="Aptos"/>
              </a:rPr>
              <a:t>This case study proposes a measurement framework across acquisition, activation, retention, revenue and referral. It identifies what to measure and how to interpret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423160" cy="1371600"/>
          </a:xfrm>
          <a:prstGeom prst="roundRect">
            <a:avLst/>
          </a:prstGeom>
          <a:solidFill>
            <a:srgbClr val="E6EEFC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737360"/>
            <a:ext cx="64008" cy="118872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1801368"/>
            <a:ext cx="20574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2194560"/>
            <a:ext cx="205740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Connect product metrics to user behaviour and business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45920"/>
            <a:ext cx="2423160" cy="1371600"/>
          </a:xfrm>
          <a:prstGeom prst="roundRect">
            <a:avLst/>
          </a:prstGeom>
          <a:solidFill>
            <a:srgbClr val="E1F5F2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1737360"/>
            <a:ext cx="64008" cy="1188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1801368"/>
            <a:ext cx="20574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194560"/>
            <a:ext cx="205740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Use AARRR to structure the lifecycle.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337560"/>
            <a:ext cx="5074920" cy="1417320"/>
          </a:xfrm>
          <a:prstGeom prst="roundRect">
            <a:avLst/>
          </a:prstGeom>
          <a:solidFill>
            <a:srgbClr val="FDF4E0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429000"/>
            <a:ext cx="64008" cy="1234440"/>
          </a:xfrm>
          <a:prstGeom prst="rect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7" y="3493008"/>
            <a:ext cx="470915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Scope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7" y="3886200"/>
            <a:ext cx="4709159" cy="758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No dataset or real Zoom event data was provided; formulas and examples are illustrative, not reported company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05E5B"/>
                </a:solidFill>
                <a:latin typeface="Aptos"/>
              </a:rPr>
              <a:t>Success for this exercise: a clear, measurable framework—not fabricated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02 •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AARRR: five connected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1828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2148840"/>
            <a:ext cx="621792" cy="621792"/>
          </a:xfrm>
          <a:prstGeom prst="ellipse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13432"/>
            <a:ext cx="621792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44368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21E34"/>
                </a:solidFill>
                <a:latin typeface="Aptos"/>
              </a:rPr>
              <a:t>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64992"/>
            <a:ext cx="159105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Attract qualified users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5728" y="3063240"/>
            <a:ext cx="384048" cy="0"/>
          </a:xfrm>
          <a:prstGeom prst="line">
            <a:avLst/>
          </a:prstGeom>
          <a:ln w="25400">
            <a:solidFill>
              <a:srgbClr val="A0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920240"/>
            <a:ext cx="1828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2148840"/>
            <a:ext cx="621792" cy="621792"/>
          </a:xfrm>
          <a:prstGeom prst="ellipse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13432"/>
            <a:ext cx="621792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944368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21E34"/>
                </a:solidFill>
                <a:latin typeface="Aptos"/>
              </a:rPr>
              <a:t>Activation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364992"/>
            <a:ext cx="159105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Deliver first value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9160" y="3063240"/>
            <a:ext cx="384048" cy="0"/>
          </a:xfrm>
          <a:prstGeom prst="line">
            <a:avLst/>
          </a:prstGeom>
          <a:ln w="25400">
            <a:solidFill>
              <a:srgbClr val="A0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93792" y="1920240"/>
            <a:ext cx="1828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2148840"/>
            <a:ext cx="621792" cy="621792"/>
          </a:xfrm>
          <a:prstGeom prst="ellipse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2313432"/>
            <a:ext cx="621792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944368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21E34"/>
                </a:solidFill>
                <a:latin typeface="Aptos"/>
              </a:rPr>
              <a:t>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3364992"/>
            <a:ext cx="159105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Build repeat use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22592" y="3063240"/>
            <a:ext cx="384048" cy="0"/>
          </a:xfrm>
          <a:prstGeom prst="line">
            <a:avLst/>
          </a:prstGeom>
          <a:ln w="25400">
            <a:solidFill>
              <a:srgbClr val="A0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07223" y="1920240"/>
            <a:ext cx="1828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01583" y="2148840"/>
            <a:ext cx="621792" cy="621792"/>
          </a:xfrm>
          <a:prstGeom prst="ellipse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1583" y="2313432"/>
            <a:ext cx="621792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3" y="2944368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21E34"/>
                </a:solidFill>
                <a:latin typeface="Aptos"/>
              </a:rPr>
              <a:t>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364992"/>
            <a:ext cx="159105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Monetise value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063240"/>
            <a:ext cx="384048" cy="0"/>
          </a:xfrm>
          <a:prstGeom prst="line">
            <a:avLst/>
          </a:prstGeom>
          <a:ln w="25400">
            <a:solidFill>
              <a:srgbClr val="A0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0655" y="1920240"/>
            <a:ext cx="1828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15015" y="2148840"/>
            <a:ext cx="621792" cy="621792"/>
          </a:xfrm>
          <a:prstGeom prst="ellipse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5015" y="2313432"/>
            <a:ext cx="621792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5" y="2944368"/>
            <a:ext cx="1645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21E34"/>
                </a:solidFill>
                <a:latin typeface="Aptos"/>
              </a:rPr>
              <a:t>Referral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3364992"/>
            <a:ext cx="159105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Encourage advocacy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00600"/>
            <a:ext cx="10515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263142"/>
                </a:solidFill>
                <a:latin typeface="Aptos"/>
              </a:rPr>
              <a:t>Lifecycle lens: acquisition brings users in; activation helps them reach first value; retention measures repeat use; revenue tracks monetisation; referral measures advocacy.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03 • METRIC DEFINITIONS &amp;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Acquisition: attract the right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4592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Website-to-sign-up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Sign-ups ÷ unique website visitors × 100
Higher can indicate stronger landing-page relevance; segment by channel.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459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Customer acquisition cost (CAC)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Acquisition spend ÷ new customers acquired
Rising CAC can mean channels are becoming less efficient.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45920"/>
          </a:xfrm>
          <a:prstGeom prst="rect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Cost per install (CPI)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Campaign spend ÷ app installs
Useful for app campaigns; an install alone does not prove activation.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27080" cy="1417320"/>
          </a:xfrm>
          <a:prstGeom prst="roundRect">
            <a:avLst/>
          </a:prstGeom>
          <a:solidFill>
            <a:srgbClr val="E6EEFC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59"/>
            <a:ext cx="64008" cy="123444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58768"/>
            <a:ext cx="1056131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Example (illustrative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51959"/>
            <a:ext cx="10561319" cy="758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47287"/>
                </a:solidFill>
                <a:latin typeface="Aptos"/>
              </a:rPr>
              <a:t>If a campaign spends $2,000 and brings 100 new paying customers, CAC = $2,000 ÷ 100 = $20 per customer. This is a hypothetical calculation, not Zoom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1E34"/>
                </a:solidFill>
                <a:latin typeface="Aptos"/>
              </a:rPr>
              <a:t>Diagnostic question: which acquisition channels bring users who later activate and retain?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04 • METRIC DEFINITIONS &amp;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Activation: help users reach first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459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Activation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New users completing a defined activation event ÷ new users × 100
Define the event first, e.g. joining or hosting a first meeting.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4592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Setup completion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Users completing setup ÷ users who started setup × 100
A drop-off can point to friction in onboarding.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45920"/>
          </a:xfrm>
          <a:prstGeom prst="rect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Time to first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Time of first key action − sign-up time
Shorter time may indicate a smoother path to value; compare cohorts.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27080" cy="1417320"/>
          </a:xfrm>
          <a:prstGeom prst="roundRect">
            <a:avLst/>
          </a:prstGeom>
          <a:solidFill>
            <a:srgbClr val="E1F5F2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59"/>
            <a:ext cx="64008" cy="123444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58768"/>
            <a:ext cx="1056131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Example (illustrative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51959"/>
            <a:ext cx="10561319" cy="758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47287"/>
                </a:solidFill>
                <a:latin typeface="Aptos"/>
              </a:rPr>
              <a:t>If 600 of 1,000 new users join or host their first meeting within 7 days, 7-day activation rate = 600 ÷ 1,000 × 100 = 60%.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1E34"/>
                </a:solidFill>
                <a:latin typeface="Aptos"/>
              </a:rPr>
              <a:t>Decision: investigate the onboarding step where the largest share of users drops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05 • METRIC DEFINITIONS &amp;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Retention: measure repeat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4592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DAU / MAU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DAU = unique active users per day; MAU = unique active users per month
Use a consistent definition of an active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45920"/>
          </a:xfrm>
          <a:prstGeom prst="rect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Cohort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Users from a cohort active in a later period ÷ users in original cohort × 100
Compare users who started in the same week/month.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45920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Churn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Customers lost during period ÷ customers at start of period × 100
Rising churn can signal lower perceived value, friction or a market change.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27080" cy="1417320"/>
          </a:xfrm>
          <a:prstGeom prst="roundRect">
            <a:avLst/>
          </a:prstGeom>
          <a:solidFill>
            <a:srgbClr val="F0EBFA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59"/>
            <a:ext cx="64008" cy="1234440"/>
          </a:xfrm>
          <a:prstGeom prst="rect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58768"/>
            <a:ext cx="1056131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Example (illustrative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51959"/>
            <a:ext cx="10561319" cy="758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47287"/>
                </a:solidFill>
                <a:latin typeface="Aptos"/>
              </a:rPr>
              <a:t>If 800 of 1,000 customers at the start of a month remain customers at month-end, customer churn = (1,000 − 800) ÷ 1,000 × 100 = 20%. Define treatment of reactivations and plan changes.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1E34"/>
                </a:solidFill>
                <a:latin typeface="Aptos"/>
              </a:rPr>
              <a:t>Decision: compare retention by acquisition channel, account size and new-versus-established cohorts.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06 • METRIC DEFINITIONS &amp;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Revenue: connect usage to monetisation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45920"/>
          </a:xfrm>
          <a:prstGeom prst="rect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Free-to-paid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Free users becoming paid in period ÷ eligible free users × 100
Specify the eligible population and conversion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459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Monthly recurring revenue (MRR)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Sum of normalised monthly recurring subscription revenue
Track new, expansion, contraction and churned MRR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4592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ARPU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Revenue in period ÷ average users in period
Segment by plan and customer type; state whether users or accounts are denominator.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27080" cy="1417320"/>
          </a:xfrm>
          <a:prstGeom prst="roundRect">
            <a:avLst/>
          </a:prstGeom>
          <a:solidFill>
            <a:srgbClr val="FDF4E0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59"/>
            <a:ext cx="64008" cy="1234440"/>
          </a:xfrm>
          <a:prstGeom prst="rect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58768"/>
            <a:ext cx="1056131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Customer lifetime value (LTV)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51959"/>
            <a:ext cx="10561319" cy="758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LTV estimates the value generated over a customer relationship. A simple subscription approximation is ARPU × gross margin ÷ customer churn rate, when periods and assumptions are consistent. Treat as an estimate, not a precise fact.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1E34"/>
                </a:solidFill>
                <a:latin typeface="Aptos"/>
              </a:rPr>
              <a:t>Decision: evaluate conversion and retention together—growth is healthier when paid users also receive ongoing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07 • METRIC DEFINITIONS &amp;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Referral: understand advocacy and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45920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Referral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Users sending at least one invite ÷ eligible active users × 100
Measures participation in sharing; does not prove invite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4592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Referral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Referred sign-ups ÷ referral visits or invites delivered × 100
Choose denominator carefully and document attribution.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45920"/>
          </a:xfrm>
          <a:prstGeom prst="rect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09928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Net Promoter Score (NPS)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03120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47287"/>
                </a:solidFill>
                <a:latin typeface="Aptos"/>
              </a:rPr>
              <a:t>% Promoters (9–10) − % Detractors (0–6)
A survey signal of willingness to recommend, not a direct measure of referrals.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27080" cy="1417320"/>
          </a:xfrm>
          <a:prstGeom prst="roundRect">
            <a:avLst/>
          </a:prstGeom>
          <a:solidFill>
            <a:srgbClr val="FCEAE8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59"/>
            <a:ext cx="64008" cy="1234440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58768"/>
            <a:ext cx="1056131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Viral coefficient (simplified)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51959"/>
            <a:ext cx="10561319" cy="758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Average invites sent per user × conversion rate of those invites. Values above 1 can indicate self-sustaining referral growth under the model assumptions; real-world behaviour and time delays matter.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1E34"/>
                </a:solidFill>
                <a:latin typeface="Aptos"/>
              </a:rPr>
              <a:t>Decision: assess referral quality and retention of referred users, not just invitation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08 • VISUAL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Illustrative product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5E5B"/>
                </a:solidFill>
                <a:latin typeface="Aptos"/>
              </a:rPr>
              <a:t>Example layout only — values below are placeholders to demonstrate presentation, not actual Zoom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2140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3567C4"/>
                </a:solidFill>
                <a:latin typeface="Aptos"/>
              </a:rPr>
              <a:t>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8716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CAC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8892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21E34"/>
                </a:solidFill>
                <a:latin typeface="Aptos"/>
              </a:rPr>
              <a:t>$20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196596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212140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5A097"/>
                </a:solidFill>
                <a:latin typeface="Aptos"/>
              </a:rPr>
              <a:t>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48716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7-day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78892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21E34"/>
                </a:solidFill>
                <a:latin typeface="Aptos"/>
              </a:rPr>
              <a:t>60%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96596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12140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05E5B"/>
                </a:solidFill>
                <a:latin typeface="Aptos"/>
              </a:rPr>
              <a:t>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48716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Monthly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78892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21E34"/>
                </a:solidFill>
                <a:latin typeface="Aptos"/>
              </a:rPr>
              <a:t>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2" y="196596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12140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DAE49"/>
                </a:solidFill>
                <a:latin typeface="Aptos"/>
              </a:rPr>
              <a:t>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48716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Free→paid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78892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21E34"/>
                </a:solidFill>
                <a:latin typeface="Aptos"/>
              </a:rPr>
              <a:t>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965960"/>
            <a:ext cx="193852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5248" y="212140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8466C9"/>
                </a:solidFill>
                <a:latin typeface="Aptos"/>
              </a:rPr>
              <a:t>Referral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2487168"/>
            <a:ext cx="1737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47287"/>
                </a:solidFill>
                <a:latin typeface="Aptos"/>
              </a:rPr>
              <a:t>Invite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278892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100" b="1">
                <a:solidFill>
                  <a:srgbClr val="121E34"/>
                </a:solidFill>
                <a:latin typeface="Aptos"/>
              </a:rPr>
              <a:t>15%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794760"/>
            <a:ext cx="5257800" cy="1371600"/>
          </a:xfrm>
          <a:prstGeom prst="roundRect">
            <a:avLst/>
          </a:prstGeom>
          <a:solidFill>
            <a:srgbClr val="E6EEFC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886200"/>
            <a:ext cx="64008" cy="118872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950208"/>
            <a:ext cx="48920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How to use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343400"/>
            <a:ext cx="489204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Show current value, target, change vs. previous period and segment breakdown.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94760"/>
            <a:ext cx="5029200" cy="1371600"/>
          </a:xfrm>
          <a:prstGeom prst="roundRect">
            <a:avLst/>
          </a:prstGeom>
          <a:solidFill>
            <a:srgbClr val="FCEAE8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886200"/>
            <a:ext cx="64008" cy="1188720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950208"/>
            <a:ext cx="46634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What to avoid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343400"/>
            <a:ext cx="466344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Do not present placeholder values as company results. Add source, time window and metric definition.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09 • BUSINESS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How to interpret changes responsibly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64008" cy="475488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64207"/>
            <a:ext cx="1874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21E34"/>
                </a:solidFill>
                <a:latin typeface="Aptos"/>
              </a:rPr>
              <a:t>CAC 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57400"/>
            <a:ext cx="1874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08760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600200"/>
            <a:ext cx="64008" cy="475488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664207"/>
            <a:ext cx="3017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Acquisition may be less efficient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057400"/>
            <a:ext cx="3017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50876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1600200"/>
            <a:ext cx="64008" cy="475488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1664207"/>
            <a:ext cx="44348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What to 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057400"/>
            <a:ext cx="443484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>Check channel mix, targeting and conversion quality.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350008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441448"/>
            <a:ext cx="64008" cy="475488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505456"/>
            <a:ext cx="1874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21E34"/>
                </a:solidFill>
                <a:latin typeface="Aptos"/>
              </a:rPr>
              <a:t>Activation falls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2898648"/>
            <a:ext cx="1874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2350008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3240" y="2441448"/>
            <a:ext cx="64008" cy="475488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2505456"/>
            <a:ext cx="3017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More new users fail to reach first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2898648"/>
            <a:ext cx="3017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350008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9400" y="2441448"/>
            <a:ext cx="64008" cy="475488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0568" y="2505456"/>
            <a:ext cx="44348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What to investigate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898648"/>
            <a:ext cx="443484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>Inspect onboarding funnel and time-to-first-meeting.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191256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282696"/>
            <a:ext cx="64008" cy="475488"/>
          </a:xfrm>
          <a:prstGeom prst="rect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3346704"/>
            <a:ext cx="1874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21E34"/>
                </a:solidFill>
                <a:latin typeface="Aptos"/>
              </a:rPr>
              <a:t>Retention falls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3739896"/>
            <a:ext cx="1874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191256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63240" y="3282696"/>
            <a:ext cx="64008" cy="475488"/>
          </a:xfrm>
          <a:prstGeom prst="rect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4408" y="3346704"/>
            <a:ext cx="3017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Repeat value may be weakening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3739896"/>
            <a:ext cx="3017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3191256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29400" y="3282696"/>
            <a:ext cx="64008" cy="475488"/>
          </a:xfrm>
          <a:prstGeom prst="rect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8" y="3346704"/>
            <a:ext cx="44348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What to investigate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3739896"/>
            <a:ext cx="443484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>Review cohorts, product changes, seasonality and customer mix.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032504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123944"/>
            <a:ext cx="64008" cy="475488"/>
          </a:xfrm>
          <a:prstGeom prst="rect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4187952"/>
            <a:ext cx="1874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21E34"/>
                </a:solidFill>
                <a:latin typeface="Aptos"/>
              </a:rPr>
              <a:t>Conversion falls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4581144"/>
            <a:ext cx="1874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4032504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63240" y="4123944"/>
            <a:ext cx="64008" cy="475488"/>
          </a:xfrm>
          <a:prstGeom prst="rect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64408" y="4187952"/>
            <a:ext cx="3017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Fewer eligible free users upgrade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64408" y="4581144"/>
            <a:ext cx="3017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29400" y="4032504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29400" y="4123944"/>
            <a:ext cx="64008" cy="475488"/>
          </a:xfrm>
          <a:prstGeom prst="rect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30568" y="4187952"/>
            <a:ext cx="44348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What to investigate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4581144"/>
            <a:ext cx="443484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>Check plan fit, upgrade path, pricing changes and segment mix.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4873752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" y="4965192"/>
            <a:ext cx="64008" cy="475488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5029200"/>
            <a:ext cx="1874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21E34"/>
                </a:solidFill>
                <a:latin typeface="Aptos"/>
              </a:rPr>
              <a:t>Referrals rise, retention 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" y="5422392"/>
            <a:ext cx="1874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63240" y="4873752"/>
            <a:ext cx="3383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63240" y="4965192"/>
            <a:ext cx="64008" cy="475488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5029200"/>
            <a:ext cx="301752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Invites may not produce lasting value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64408" y="5422392"/>
            <a:ext cx="301752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29400" y="4873752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29400" y="4965192"/>
            <a:ext cx="64008" cy="475488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30568" y="5029200"/>
            <a:ext cx="44348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1E34"/>
                </a:solidFill>
                <a:latin typeface="Aptos"/>
              </a:rPr>
              <a:t>What to investigate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0568" y="5422392"/>
            <a:ext cx="4434840" cy="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47287"/>
                </a:solidFill>
                <a:latin typeface="Aptos"/>
              </a:rPr>
              <a:t>Compare referred-user activation and cohort retention.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897880"/>
            <a:ext cx="10424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5E5B"/>
                </a:solidFill>
                <a:latin typeface="Aptos"/>
              </a:rPr>
              <a:t>A metric is a signal, not a diagnosis. Segment the data and test explanations before recommending a product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10 • DATA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What data would be needed next?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520440" cy="1828800"/>
          </a:xfrm>
          <a:prstGeom prst="roundRect">
            <a:avLst/>
          </a:prstGeom>
          <a:solidFill>
            <a:srgbClr val="E6EEFC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64008" cy="1645920"/>
          </a:xfrm>
          <a:prstGeom prst="rect">
            <a:avLst/>
          </a:prstGeom>
          <a:solidFill>
            <a:srgbClr val="35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28216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Product event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21408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User/account ID, event name, event timestamp, meeting created/joined, onboarding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520440" cy="1828800"/>
          </a:xfrm>
          <a:prstGeom prst="roundRect">
            <a:avLst/>
          </a:prstGeom>
          <a:solidFill>
            <a:srgbClr val="E1F5F2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64208"/>
            <a:ext cx="64008" cy="16459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28216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Acquisition &amp;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21408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Channel/campaign, spend, landing visits, installs, sign-ups and attribution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572768"/>
            <a:ext cx="3520440" cy="1828800"/>
          </a:xfrm>
          <a:prstGeom prst="roundRect">
            <a:avLst/>
          </a:prstGeom>
          <a:solidFill>
            <a:srgbClr val="FDF4E0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64208"/>
            <a:ext cx="64008" cy="1645920"/>
          </a:xfrm>
          <a:prstGeom prst="rect">
            <a:avLst/>
          </a:prstGeom>
          <a:solidFill>
            <a:srgbClr val="ED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1546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Billing &amp; survey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3154680" cy="11704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Plan, recurring revenue, upgrades/downgrades, cancellations, survey responses.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5257800" cy="1417320"/>
          </a:xfrm>
          <a:prstGeom prst="roundRect">
            <a:avLst/>
          </a:prstGeom>
          <a:solidFill>
            <a:srgbClr val="F0EBFA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94759"/>
            <a:ext cx="64008" cy="1234440"/>
          </a:xfrm>
          <a:prstGeom prst="rect">
            <a:avLst/>
          </a:prstGeom>
          <a:solidFill>
            <a:srgbClr val="84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858768"/>
            <a:ext cx="48920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251959"/>
            <a:ext cx="4892040" cy="758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Document definitions, time zones, deduplication, identity stitching, privacy and access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703320"/>
            <a:ext cx="5394960" cy="1417320"/>
          </a:xfrm>
          <a:prstGeom prst="roundRect">
            <a:avLst/>
          </a:prstGeom>
          <a:solidFill>
            <a:srgbClr val="FCEAE8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794759"/>
            <a:ext cx="64008" cy="1234440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858768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1E34"/>
                </a:solidFill>
                <a:latin typeface="Aptos"/>
              </a:rPr>
              <a:t>Analysis methods to consider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51959"/>
            <a:ext cx="5029200" cy="7589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Funnel analysis, cohort retention, segmentation, trend analysis and experiments where appropriate.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3567C4"/>
                </a:solidFill>
                <a:latin typeface="Aptos"/>
              </a:rPr>
              <a:t>11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1E34"/>
                </a:solidFill>
                <a:latin typeface="Aptos"/>
              </a:rPr>
              <a:t>Recommendations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07008"/>
            <a:ext cx="731520" cy="4572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47287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257800" cy="1920240"/>
          </a:xfrm>
          <a:prstGeom prst="roundRect">
            <a:avLst/>
          </a:prstGeom>
          <a:solidFill>
            <a:srgbClr val="E1F5F2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64008" cy="1737360"/>
          </a:xfrm>
          <a:prstGeom prst="rect">
            <a:avLst/>
          </a:prstGeom>
          <a:solidFill>
            <a:srgbClr val="25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28216"/>
            <a:ext cx="48920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Recommended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21408"/>
            <a:ext cx="4892040" cy="12618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1. Define a single owner and calculation for each metric.
2. Build an AARRR scorecard.
3. Segment by channel, cohort and plan.
4. Investigate funnel drop-offs before changing the product.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572768"/>
            <a:ext cx="5394960" cy="1920240"/>
          </a:xfrm>
          <a:prstGeom prst="roundRect">
            <a:avLst/>
          </a:prstGeom>
          <a:solidFill>
            <a:srgbClr val="FCEAE8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664208"/>
            <a:ext cx="64008" cy="1737360"/>
          </a:xfrm>
          <a:prstGeom prst="rect">
            <a:avLst/>
          </a:prstGeom>
          <a:solidFill>
            <a:srgbClr val="E0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728216"/>
            <a:ext cx="50292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21E34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121408"/>
            <a:ext cx="5029200" cy="12618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7287"/>
                </a:solidFill>
                <a:latin typeface="Aptos"/>
              </a:rPr>
              <a:t>• No raw Zoom dataset was supplied.
• No actual performance or causal results are claimed.
• Metric definitions must be validated with product context.
• LTV and viral coefficient depend on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690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1E34"/>
                </a:solidFill>
                <a:latin typeface="Aptos"/>
              </a:rPr>
              <a:t>Portfolio honesty: this is a proposed measurement framework and illustrative calculations, not an analysis of Zoom's actual internal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102412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21E34"/>
                </a:solidFill>
                <a:latin typeface="Aptos"/>
              </a:rPr>
              <a:t>Key takeaway: choose metrics that reflect user value, define them consistently, and use changes to guide investigation—not to jump to conclusions.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